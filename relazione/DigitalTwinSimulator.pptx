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57" r:id="rId3"/>
    <p:sldId id="258" r:id="rId4"/>
    <p:sldId id="261" r:id="rId5"/>
    <p:sldId id="259" r:id="rId6"/>
    <p:sldId id="263" r:id="rId7"/>
    <p:sldId id="264" r:id="rId8"/>
    <p:sldId id="260" r:id="rId9"/>
    <p:sldId id="262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B2BE555-3CA2-42E7-A130-5E5FD3D0BFA8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37F0FCA-C808-45A5-B512-9DA95F1FDBCA}">
      <dgm:prSet/>
      <dgm:spPr/>
      <dgm:t>
        <a:bodyPr/>
        <a:lstStyle/>
        <a:p>
          <a:pPr>
            <a:defRPr cap="all"/>
          </a:pPr>
          <a:r>
            <a:rPr lang="it-IT"/>
            <a:t>Generare automaticamente modelli 3D a partire da immagini 2D</a:t>
          </a:r>
          <a:endParaRPr lang="en-US"/>
        </a:p>
      </dgm:t>
    </dgm:pt>
    <dgm:pt modelId="{1F010ACE-4095-491D-8A2D-A5E80C371E40}" type="parTrans" cxnId="{A5971085-06F1-45A6-8388-3478CE01FA04}">
      <dgm:prSet/>
      <dgm:spPr/>
      <dgm:t>
        <a:bodyPr/>
        <a:lstStyle/>
        <a:p>
          <a:endParaRPr lang="en-US"/>
        </a:p>
      </dgm:t>
    </dgm:pt>
    <dgm:pt modelId="{864280BB-C230-4D56-AD8F-9C68F75320EE}" type="sibTrans" cxnId="{A5971085-06F1-45A6-8388-3478CE01FA04}">
      <dgm:prSet phldrT="1"/>
      <dgm:spPr/>
      <dgm:t>
        <a:bodyPr/>
        <a:lstStyle/>
        <a:p>
          <a:r>
            <a:rPr lang="en-US"/>
            <a:t>1</a:t>
          </a:r>
        </a:p>
      </dgm:t>
    </dgm:pt>
    <dgm:pt modelId="{058A2D21-41EF-49C3-A1E2-E8139002D04A}">
      <dgm:prSet/>
      <dgm:spPr/>
      <dgm:t>
        <a:bodyPr/>
        <a:lstStyle/>
        <a:p>
          <a:pPr>
            <a:defRPr cap="all"/>
          </a:pPr>
          <a:r>
            <a:rPr lang="it-IT"/>
            <a:t>Integrare tecniche di Deep Learning nella pipeline di Computer Graphics</a:t>
          </a:r>
          <a:endParaRPr lang="en-US"/>
        </a:p>
      </dgm:t>
    </dgm:pt>
    <dgm:pt modelId="{DAB807CD-B6DB-45D1-853C-D7973F69D570}" type="parTrans" cxnId="{8B82D0A4-8D9E-4CF2-8B8E-357629A5BABF}">
      <dgm:prSet/>
      <dgm:spPr/>
      <dgm:t>
        <a:bodyPr/>
        <a:lstStyle/>
        <a:p>
          <a:endParaRPr lang="en-US"/>
        </a:p>
      </dgm:t>
    </dgm:pt>
    <dgm:pt modelId="{B40C5B47-7C12-44BA-A7AA-B466BB3DA4A0}" type="sibTrans" cxnId="{8B82D0A4-8D9E-4CF2-8B8E-357629A5BABF}">
      <dgm:prSet phldrT="2"/>
      <dgm:spPr/>
      <dgm:t>
        <a:bodyPr/>
        <a:lstStyle/>
        <a:p>
          <a:r>
            <a:rPr lang="en-US"/>
            <a:t>2</a:t>
          </a:r>
        </a:p>
      </dgm:t>
    </dgm:pt>
    <dgm:pt modelId="{09D6F800-41B9-450F-999C-174D6D7BF18D}">
      <dgm:prSet/>
      <dgm:spPr/>
      <dgm:t>
        <a:bodyPr/>
        <a:lstStyle/>
        <a:p>
          <a:pPr>
            <a:defRPr cap="all"/>
          </a:pPr>
          <a:r>
            <a:rPr lang="it-IT"/>
            <a:t>Realizzare una pipeline end-to-end per la prototipazione di Digital Twin</a:t>
          </a:r>
          <a:endParaRPr lang="en-US"/>
        </a:p>
      </dgm:t>
    </dgm:pt>
    <dgm:pt modelId="{FB070A26-D0F2-4A22-8FFA-2D25012D6A7A}" type="parTrans" cxnId="{3E789485-5248-4E5F-9981-05DB4EC13723}">
      <dgm:prSet/>
      <dgm:spPr/>
      <dgm:t>
        <a:bodyPr/>
        <a:lstStyle/>
        <a:p>
          <a:endParaRPr lang="en-US"/>
        </a:p>
      </dgm:t>
    </dgm:pt>
    <dgm:pt modelId="{B81A4DDC-061B-4464-896E-33878BC3FC8C}" type="sibTrans" cxnId="{3E789485-5248-4E5F-9981-05DB4EC13723}">
      <dgm:prSet phldrT="3"/>
      <dgm:spPr/>
      <dgm:t>
        <a:bodyPr/>
        <a:lstStyle/>
        <a:p>
          <a:r>
            <a:rPr lang="en-US"/>
            <a:t>3</a:t>
          </a:r>
        </a:p>
      </dgm:t>
    </dgm:pt>
    <dgm:pt modelId="{2CC1F8AE-BDA1-497A-A49F-0ECC61B39349}">
      <dgm:prSet/>
      <dgm:spPr/>
      <dgm:t>
        <a:bodyPr/>
        <a:lstStyle/>
        <a:p>
          <a:pPr>
            <a:defRPr cap="all"/>
          </a:pPr>
          <a:r>
            <a:rPr lang="it-IT"/>
            <a:t>Consentire la visualizzazione e l’interazione dei modelli in ambiente XR</a:t>
          </a:r>
          <a:endParaRPr lang="en-US"/>
        </a:p>
      </dgm:t>
    </dgm:pt>
    <dgm:pt modelId="{D7E63C00-C94B-4CA3-820E-AA95E91DA150}" type="parTrans" cxnId="{63495261-DF37-4118-B0CA-CA5EB7DBEBE2}">
      <dgm:prSet/>
      <dgm:spPr/>
      <dgm:t>
        <a:bodyPr/>
        <a:lstStyle/>
        <a:p>
          <a:endParaRPr lang="en-US"/>
        </a:p>
      </dgm:t>
    </dgm:pt>
    <dgm:pt modelId="{5956022D-76FE-41D2-9449-1A1F9F94538D}" type="sibTrans" cxnId="{63495261-DF37-4118-B0CA-CA5EB7DBEBE2}">
      <dgm:prSet phldrT="4"/>
      <dgm:spPr/>
      <dgm:t>
        <a:bodyPr/>
        <a:lstStyle/>
        <a:p>
          <a:r>
            <a:rPr lang="en-US"/>
            <a:t>4</a:t>
          </a:r>
        </a:p>
      </dgm:t>
    </dgm:pt>
    <dgm:pt modelId="{434862D8-0D71-40D3-941E-FAAAF8078FF1}" type="pres">
      <dgm:prSet presAssocID="{DB2BE555-3CA2-42E7-A130-5E5FD3D0BFA8}" presName="Name0" presStyleCnt="0">
        <dgm:presLayoutVars>
          <dgm:animLvl val="lvl"/>
          <dgm:resizeHandles val="exact"/>
        </dgm:presLayoutVars>
      </dgm:prSet>
      <dgm:spPr/>
    </dgm:pt>
    <dgm:pt modelId="{5D1908BA-870B-4C23-9AFB-7F32539EC1F2}" type="pres">
      <dgm:prSet presAssocID="{F37F0FCA-C808-45A5-B512-9DA95F1FDBCA}" presName="compositeNode" presStyleCnt="0">
        <dgm:presLayoutVars>
          <dgm:bulletEnabled val="1"/>
        </dgm:presLayoutVars>
      </dgm:prSet>
      <dgm:spPr/>
    </dgm:pt>
    <dgm:pt modelId="{167BBD24-D69D-441F-B6D4-ABEA0E638AD9}" type="pres">
      <dgm:prSet presAssocID="{F37F0FCA-C808-45A5-B512-9DA95F1FDBCA}" presName="bgRect" presStyleLbl="bgAccFollowNode1" presStyleIdx="0" presStyleCnt="4"/>
      <dgm:spPr/>
    </dgm:pt>
    <dgm:pt modelId="{15AF774E-9AE6-4F8F-A69B-19A4F73BD9BC}" type="pres">
      <dgm:prSet presAssocID="{864280BB-C230-4D56-AD8F-9C68F75320EE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21AB5068-7CB4-4293-BC8B-8A12B62FEE7D}" type="pres">
      <dgm:prSet presAssocID="{F37F0FCA-C808-45A5-B512-9DA95F1FDBCA}" presName="bottomLine" presStyleLbl="alignNode1" presStyleIdx="1" presStyleCnt="8">
        <dgm:presLayoutVars/>
      </dgm:prSet>
      <dgm:spPr/>
    </dgm:pt>
    <dgm:pt modelId="{EBEEF914-9A46-413E-B0C4-538658392CA1}" type="pres">
      <dgm:prSet presAssocID="{F37F0FCA-C808-45A5-B512-9DA95F1FDBCA}" presName="nodeText" presStyleLbl="bgAccFollowNode1" presStyleIdx="0" presStyleCnt="4">
        <dgm:presLayoutVars>
          <dgm:bulletEnabled val="1"/>
        </dgm:presLayoutVars>
      </dgm:prSet>
      <dgm:spPr/>
    </dgm:pt>
    <dgm:pt modelId="{E831ACE0-ECE2-4913-918E-F73F903022F2}" type="pres">
      <dgm:prSet presAssocID="{864280BB-C230-4D56-AD8F-9C68F75320EE}" presName="sibTrans" presStyleCnt="0"/>
      <dgm:spPr/>
    </dgm:pt>
    <dgm:pt modelId="{768C3557-7058-4C3B-860A-A736BC6BD90F}" type="pres">
      <dgm:prSet presAssocID="{058A2D21-41EF-49C3-A1E2-E8139002D04A}" presName="compositeNode" presStyleCnt="0">
        <dgm:presLayoutVars>
          <dgm:bulletEnabled val="1"/>
        </dgm:presLayoutVars>
      </dgm:prSet>
      <dgm:spPr/>
    </dgm:pt>
    <dgm:pt modelId="{6971CCBD-CBC6-481F-BEE2-6EE5AE0832F3}" type="pres">
      <dgm:prSet presAssocID="{058A2D21-41EF-49C3-A1E2-E8139002D04A}" presName="bgRect" presStyleLbl="bgAccFollowNode1" presStyleIdx="1" presStyleCnt="4" custLinFactNeighborX="-1133" custLinFactNeighborY="-156"/>
      <dgm:spPr/>
    </dgm:pt>
    <dgm:pt modelId="{5621B987-64A2-4D90-AE76-5267FECAB125}" type="pres">
      <dgm:prSet presAssocID="{B40C5B47-7C12-44BA-A7AA-B466BB3DA4A0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73EBCC14-6B82-49C1-90DF-E4869EDB4AF0}" type="pres">
      <dgm:prSet presAssocID="{058A2D21-41EF-49C3-A1E2-E8139002D04A}" presName="bottomLine" presStyleLbl="alignNode1" presStyleIdx="3" presStyleCnt="8">
        <dgm:presLayoutVars/>
      </dgm:prSet>
      <dgm:spPr/>
    </dgm:pt>
    <dgm:pt modelId="{8F398690-E440-42CE-A71A-16EBFA7FA47F}" type="pres">
      <dgm:prSet presAssocID="{058A2D21-41EF-49C3-A1E2-E8139002D04A}" presName="nodeText" presStyleLbl="bgAccFollowNode1" presStyleIdx="1" presStyleCnt="4">
        <dgm:presLayoutVars>
          <dgm:bulletEnabled val="1"/>
        </dgm:presLayoutVars>
      </dgm:prSet>
      <dgm:spPr/>
    </dgm:pt>
    <dgm:pt modelId="{463E2DC2-969C-469F-8F07-F69174B23A42}" type="pres">
      <dgm:prSet presAssocID="{B40C5B47-7C12-44BA-A7AA-B466BB3DA4A0}" presName="sibTrans" presStyleCnt="0"/>
      <dgm:spPr/>
    </dgm:pt>
    <dgm:pt modelId="{A48AE07E-8C84-4327-BE2D-2794A2A71AE3}" type="pres">
      <dgm:prSet presAssocID="{09D6F800-41B9-450F-999C-174D6D7BF18D}" presName="compositeNode" presStyleCnt="0">
        <dgm:presLayoutVars>
          <dgm:bulletEnabled val="1"/>
        </dgm:presLayoutVars>
      </dgm:prSet>
      <dgm:spPr/>
    </dgm:pt>
    <dgm:pt modelId="{2236C633-AAF1-4C06-9D8C-278021425D13}" type="pres">
      <dgm:prSet presAssocID="{09D6F800-41B9-450F-999C-174D6D7BF18D}" presName="bgRect" presStyleLbl="bgAccFollowNode1" presStyleIdx="2" presStyleCnt="4"/>
      <dgm:spPr/>
    </dgm:pt>
    <dgm:pt modelId="{D7040E2C-B06B-498F-BAD9-A68611F0D6CC}" type="pres">
      <dgm:prSet presAssocID="{B81A4DDC-061B-4464-896E-33878BC3FC8C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FE891E77-32A5-4B8C-8C80-FD2DEBFC35B0}" type="pres">
      <dgm:prSet presAssocID="{09D6F800-41B9-450F-999C-174D6D7BF18D}" presName="bottomLine" presStyleLbl="alignNode1" presStyleIdx="5" presStyleCnt="8">
        <dgm:presLayoutVars/>
      </dgm:prSet>
      <dgm:spPr/>
    </dgm:pt>
    <dgm:pt modelId="{55326D1A-4856-4D43-86C9-377D00F99206}" type="pres">
      <dgm:prSet presAssocID="{09D6F800-41B9-450F-999C-174D6D7BF18D}" presName="nodeText" presStyleLbl="bgAccFollowNode1" presStyleIdx="2" presStyleCnt="4">
        <dgm:presLayoutVars>
          <dgm:bulletEnabled val="1"/>
        </dgm:presLayoutVars>
      </dgm:prSet>
      <dgm:spPr/>
    </dgm:pt>
    <dgm:pt modelId="{ACFAFC86-E7AA-4B44-AD7D-075FAB70B4EA}" type="pres">
      <dgm:prSet presAssocID="{B81A4DDC-061B-4464-896E-33878BC3FC8C}" presName="sibTrans" presStyleCnt="0"/>
      <dgm:spPr/>
    </dgm:pt>
    <dgm:pt modelId="{A3ACB7F5-83B4-43AE-A4B3-DF4B7B487791}" type="pres">
      <dgm:prSet presAssocID="{2CC1F8AE-BDA1-497A-A49F-0ECC61B39349}" presName="compositeNode" presStyleCnt="0">
        <dgm:presLayoutVars>
          <dgm:bulletEnabled val="1"/>
        </dgm:presLayoutVars>
      </dgm:prSet>
      <dgm:spPr/>
    </dgm:pt>
    <dgm:pt modelId="{F779DBAA-C7C3-4C18-A21B-42B0C847D35D}" type="pres">
      <dgm:prSet presAssocID="{2CC1F8AE-BDA1-497A-A49F-0ECC61B39349}" presName="bgRect" presStyleLbl="bgAccFollowNode1" presStyleIdx="3" presStyleCnt="4"/>
      <dgm:spPr/>
    </dgm:pt>
    <dgm:pt modelId="{80887EDB-A7D3-48A2-B014-FECA52D436C4}" type="pres">
      <dgm:prSet presAssocID="{5956022D-76FE-41D2-9449-1A1F9F94538D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99964A9B-8860-4871-8D79-6DA67EA05212}" type="pres">
      <dgm:prSet presAssocID="{2CC1F8AE-BDA1-497A-A49F-0ECC61B39349}" presName="bottomLine" presStyleLbl="alignNode1" presStyleIdx="7" presStyleCnt="8">
        <dgm:presLayoutVars/>
      </dgm:prSet>
      <dgm:spPr/>
    </dgm:pt>
    <dgm:pt modelId="{50AE49B6-C302-4D7F-9581-F9079280FF5D}" type="pres">
      <dgm:prSet presAssocID="{2CC1F8AE-BDA1-497A-A49F-0ECC61B39349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F8BA8F10-AFF1-49F6-A3F6-0ABE59A907D0}" type="presOf" srcId="{2CC1F8AE-BDA1-497A-A49F-0ECC61B39349}" destId="{F779DBAA-C7C3-4C18-A21B-42B0C847D35D}" srcOrd="0" destOrd="0" presId="urn:microsoft.com/office/officeart/2016/7/layout/BasicLinearProcessNumbered"/>
    <dgm:cxn modelId="{13CFBE1C-9C20-43A5-8926-9B83D7B87D0A}" type="presOf" srcId="{058A2D21-41EF-49C3-A1E2-E8139002D04A}" destId="{6971CCBD-CBC6-481F-BEE2-6EE5AE0832F3}" srcOrd="0" destOrd="0" presId="urn:microsoft.com/office/officeart/2016/7/layout/BasicLinearProcessNumbered"/>
    <dgm:cxn modelId="{B6A3BE1E-F25A-409B-9F3A-6D21B32FEA50}" type="presOf" srcId="{F37F0FCA-C808-45A5-B512-9DA95F1FDBCA}" destId="{167BBD24-D69D-441F-B6D4-ABEA0E638AD9}" srcOrd="0" destOrd="0" presId="urn:microsoft.com/office/officeart/2016/7/layout/BasicLinearProcessNumbered"/>
    <dgm:cxn modelId="{85F15A26-994F-4670-B1C6-07A7E9022936}" type="presOf" srcId="{09D6F800-41B9-450F-999C-174D6D7BF18D}" destId="{2236C633-AAF1-4C06-9D8C-278021425D13}" srcOrd="0" destOrd="0" presId="urn:microsoft.com/office/officeart/2016/7/layout/BasicLinearProcessNumbered"/>
    <dgm:cxn modelId="{EC29AD5C-EC30-4EC1-B2FB-D9F56B131EE4}" type="presOf" srcId="{2CC1F8AE-BDA1-497A-A49F-0ECC61B39349}" destId="{50AE49B6-C302-4D7F-9581-F9079280FF5D}" srcOrd="1" destOrd="0" presId="urn:microsoft.com/office/officeart/2016/7/layout/BasicLinearProcessNumbered"/>
    <dgm:cxn modelId="{27224E5D-5809-4930-9A8C-1D15EF4CD087}" type="presOf" srcId="{F37F0FCA-C808-45A5-B512-9DA95F1FDBCA}" destId="{EBEEF914-9A46-413E-B0C4-538658392CA1}" srcOrd="1" destOrd="0" presId="urn:microsoft.com/office/officeart/2016/7/layout/BasicLinearProcessNumbered"/>
    <dgm:cxn modelId="{63495261-DF37-4118-B0CA-CA5EB7DBEBE2}" srcId="{DB2BE555-3CA2-42E7-A130-5E5FD3D0BFA8}" destId="{2CC1F8AE-BDA1-497A-A49F-0ECC61B39349}" srcOrd="3" destOrd="0" parTransId="{D7E63C00-C94B-4CA3-820E-AA95E91DA150}" sibTransId="{5956022D-76FE-41D2-9449-1A1F9F94538D}"/>
    <dgm:cxn modelId="{62FE9371-FA90-4B85-AA9F-D3766E8E4FD6}" type="presOf" srcId="{864280BB-C230-4D56-AD8F-9C68F75320EE}" destId="{15AF774E-9AE6-4F8F-A69B-19A4F73BD9BC}" srcOrd="0" destOrd="0" presId="urn:microsoft.com/office/officeart/2016/7/layout/BasicLinearProcessNumbered"/>
    <dgm:cxn modelId="{A5971085-06F1-45A6-8388-3478CE01FA04}" srcId="{DB2BE555-3CA2-42E7-A130-5E5FD3D0BFA8}" destId="{F37F0FCA-C808-45A5-B512-9DA95F1FDBCA}" srcOrd="0" destOrd="0" parTransId="{1F010ACE-4095-491D-8A2D-A5E80C371E40}" sibTransId="{864280BB-C230-4D56-AD8F-9C68F75320EE}"/>
    <dgm:cxn modelId="{3E789485-5248-4E5F-9981-05DB4EC13723}" srcId="{DB2BE555-3CA2-42E7-A130-5E5FD3D0BFA8}" destId="{09D6F800-41B9-450F-999C-174D6D7BF18D}" srcOrd="2" destOrd="0" parTransId="{FB070A26-D0F2-4A22-8FFA-2D25012D6A7A}" sibTransId="{B81A4DDC-061B-4464-896E-33878BC3FC8C}"/>
    <dgm:cxn modelId="{8B82D0A4-8D9E-4CF2-8B8E-357629A5BABF}" srcId="{DB2BE555-3CA2-42E7-A130-5E5FD3D0BFA8}" destId="{058A2D21-41EF-49C3-A1E2-E8139002D04A}" srcOrd="1" destOrd="0" parTransId="{DAB807CD-B6DB-45D1-853C-D7973F69D570}" sibTransId="{B40C5B47-7C12-44BA-A7AA-B466BB3DA4A0}"/>
    <dgm:cxn modelId="{A8FE84B1-8DEB-4063-8AC9-8441C297B369}" type="presOf" srcId="{09D6F800-41B9-450F-999C-174D6D7BF18D}" destId="{55326D1A-4856-4D43-86C9-377D00F99206}" srcOrd="1" destOrd="0" presId="urn:microsoft.com/office/officeart/2016/7/layout/BasicLinearProcessNumbered"/>
    <dgm:cxn modelId="{E9C2B1B1-545E-4856-890B-C0DE0D91BD80}" type="presOf" srcId="{B81A4DDC-061B-4464-896E-33878BC3FC8C}" destId="{D7040E2C-B06B-498F-BAD9-A68611F0D6CC}" srcOrd="0" destOrd="0" presId="urn:microsoft.com/office/officeart/2016/7/layout/BasicLinearProcessNumbered"/>
    <dgm:cxn modelId="{3F91E9E8-E427-4DA3-BA13-60A0C5CBA182}" type="presOf" srcId="{B40C5B47-7C12-44BA-A7AA-B466BB3DA4A0}" destId="{5621B987-64A2-4D90-AE76-5267FECAB125}" srcOrd="0" destOrd="0" presId="urn:microsoft.com/office/officeart/2016/7/layout/BasicLinearProcessNumbered"/>
    <dgm:cxn modelId="{163EE7ED-3D95-47FF-8C98-5E09C45FCCDB}" type="presOf" srcId="{DB2BE555-3CA2-42E7-A130-5E5FD3D0BFA8}" destId="{434862D8-0D71-40D3-941E-FAAAF8078FF1}" srcOrd="0" destOrd="0" presId="urn:microsoft.com/office/officeart/2016/7/layout/BasicLinearProcessNumbered"/>
    <dgm:cxn modelId="{07D51DF2-4C1D-4F98-9725-5BC7B326ECBB}" type="presOf" srcId="{058A2D21-41EF-49C3-A1E2-E8139002D04A}" destId="{8F398690-E440-42CE-A71A-16EBFA7FA47F}" srcOrd="1" destOrd="0" presId="urn:microsoft.com/office/officeart/2016/7/layout/BasicLinearProcessNumbered"/>
    <dgm:cxn modelId="{F484ACF6-9A1F-4D85-9A2B-884AEAB766BF}" type="presOf" srcId="{5956022D-76FE-41D2-9449-1A1F9F94538D}" destId="{80887EDB-A7D3-48A2-B014-FECA52D436C4}" srcOrd="0" destOrd="0" presId="urn:microsoft.com/office/officeart/2016/7/layout/BasicLinearProcessNumbered"/>
    <dgm:cxn modelId="{847B4D55-E81F-46B7-A023-41193F88148C}" type="presParOf" srcId="{434862D8-0D71-40D3-941E-FAAAF8078FF1}" destId="{5D1908BA-870B-4C23-9AFB-7F32539EC1F2}" srcOrd="0" destOrd="0" presId="urn:microsoft.com/office/officeart/2016/7/layout/BasicLinearProcessNumbered"/>
    <dgm:cxn modelId="{E4E61AAB-2841-4E1E-A27D-789BC8858FEE}" type="presParOf" srcId="{5D1908BA-870B-4C23-9AFB-7F32539EC1F2}" destId="{167BBD24-D69D-441F-B6D4-ABEA0E638AD9}" srcOrd="0" destOrd="0" presId="urn:microsoft.com/office/officeart/2016/7/layout/BasicLinearProcessNumbered"/>
    <dgm:cxn modelId="{77C899F2-18A5-4638-AF3E-63671AC9CF41}" type="presParOf" srcId="{5D1908BA-870B-4C23-9AFB-7F32539EC1F2}" destId="{15AF774E-9AE6-4F8F-A69B-19A4F73BD9BC}" srcOrd="1" destOrd="0" presId="urn:microsoft.com/office/officeart/2016/7/layout/BasicLinearProcessNumbered"/>
    <dgm:cxn modelId="{34915010-4273-47F8-9A32-5A5CBC97304E}" type="presParOf" srcId="{5D1908BA-870B-4C23-9AFB-7F32539EC1F2}" destId="{21AB5068-7CB4-4293-BC8B-8A12B62FEE7D}" srcOrd="2" destOrd="0" presId="urn:microsoft.com/office/officeart/2016/7/layout/BasicLinearProcessNumbered"/>
    <dgm:cxn modelId="{CC1FD4EB-0CF0-4F3A-A1A9-5E5C760FA9B0}" type="presParOf" srcId="{5D1908BA-870B-4C23-9AFB-7F32539EC1F2}" destId="{EBEEF914-9A46-413E-B0C4-538658392CA1}" srcOrd="3" destOrd="0" presId="urn:microsoft.com/office/officeart/2016/7/layout/BasicLinearProcessNumbered"/>
    <dgm:cxn modelId="{F9575E50-2683-420D-921A-98158E9A1BE0}" type="presParOf" srcId="{434862D8-0D71-40D3-941E-FAAAF8078FF1}" destId="{E831ACE0-ECE2-4913-918E-F73F903022F2}" srcOrd="1" destOrd="0" presId="urn:microsoft.com/office/officeart/2016/7/layout/BasicLinearProcessNumbered"/>
    <dgm:cxn modelId="{B9E60CB3-6CB3-4D5A-B62F-4F4C5CAF29AD}" type="presParOf" srcId="{434862D8-0D71-40D3-941E-FAAAF8078FF1}" destId="{768C3557-7058-4C3B-860A-A736BC6BD90F}" srcOrd="2" destOrd="0" presId="urn:microsoft.com/office/officeart/2016/7/layout/BasicLinearProcessNumbered"/>
    <dgm:cxn modelId="{149E4FEC-726A-442F-BF7D-C068825D4EF8}" type="presParOf" srcId="{768C3557-7058-4C3B-860A-A736BC6BD90F}" destId="{6971CCBD-CBC6-481F-BEE2-6EE5AE0832F3}" srcOrd="0" destOrd="0" presId="urn:microsoft.com/office/officeart/2016/7/layout/BasicLinearProcessNumbered"/>
    <dgm:cxn modelId="{FF8CC964-D07C-4091-8C6E-539AFDAD8D84}" type="presParOf" srcId="{768C3557-7058-4C3B-860A-A736BC6BD90F}" destId="{5621B987-64A2-4D90-AE76-5267FECAB125}" srcOrd="1" destOrd="0" presId="urn:microsoft.com/office/officeart/2016/7/layout/BasicLinearProcessNumbered"/>
    <dgm:cxn modelId="{DB4FBDC8-2757-42FB-8129-BFF58C83CB8F}" type="presParOf" srcId="{768C3557-7058-4C3B-860A-A736BC6BD90F}" destId="{73EBCC14-6B82-49C1-90DF-E4869EDB4AF0}" srcOrd="2" destOrd="0" presId="urn:microsoft.com/office/officeart/2016/7/layout/BasicLinearProcessNumbered"/>
    <dgm:cxn modelId="{ABAC9541-867F-4290-8D2E-E03435458701}" type="presParOf" srcId="{768C3557-7058-4C3B-860A-A736BC6BD90F}" destId="{8F398690-E440-42CE-A71A-16EBFA7FA47F}" srcOrd="3" destOrd="0" presId="urn:microsoft.com/office/officeart/2016/7/layout/BasicLinearProcessNumbered"/>
    <dgm:cxn modelId="{5F090BA4-AE0B-48CB-9A1C-7F0689F3CB81}" type="presParOf" srcId="{434862D8-0D71-40D3-941E-FAAAF8078FF1}" destId="{463E2DC2-969C-469F-8F07-F69174B23A42}" srcOrd="3" destOrd="0" presId="urn:microsoft.com/office/officeart/2016/7/layout/BasicLinearProcessNumbered"/>
    <dgm:cxn modelId="{365E20A0-C12D-4408-9618-76AC138D4215}" type="presParOf" srcId="{434862D8-0D71-40D3-941E-FAAAF8078FF1}" destId="{A48AE07E-8C84-4327-BE2D-2794A2A71AE3}" srcOrd="4" destOrd="0" presId="urn:microsoft.com/office/officeart/2016/7/layout/BasicLinearProcessNumbered"/>
    <dgm:cxn modelId="{3757B799-8FC1-4F53-9DEC-D63AFFEFA101}" type="presParOf" srcId="{A48AE07E-8C84-4327-BE2D-2794A2A71AE3}" destId="{2236C633-AAF1-4C06-9D8C-278021425D13}" srcOrd="0" destOrd="0" presId="urn:microsoft.com/office/officeart/2016/7/layout/BasicLinearProcessNumbered"/>
    <dgm:cxn modelId="{73DDB45B-CEA4-4047-9BDF-70E6E32DF305}" type="presParOf" srcId="{A48AE07E-8C84-4327-BE2D-2794A2A71AE3}" destId="{D7040E2C-B06B-498F-BAD9-A68611F0D6CC}" srcOrd="1" destOrd="0" presId="urn:microsoft.com/office/officeart/2016/7/layout/BasicLinearProcessNumbered"/>
    <dgm:cxn modelId="{CDA55E05-1117-4525-8A3A-A2FBC883CE2D}" type="presParOf" srcId="{A48AE07E-8C84-4327-BE2D-2794A2A71AE3}" destId="{FE891E77-32A5-4B8C-8C80-FD2DEBFC35B0}" srcOrd="2" destOrd="0" presId="urn:microsoft.com/office/officeart/2016/7/layout/BasicLinearProcessNumbered"/>
    <dgm:cxn modelId="{E9FE76C9-1E7C-4DC5-B590-20371C1F5D1C}" type="presParOf" srcId="{A48AE07E-8C84-4327-BE2D-2794A2A71AE3}" destId="{55326D1A-4856-4D43-86C9-377D00F99206}" srcOrd="3" destOrd="0" presId="urn:microsoft.com/office/officeart/2016/7/layout/BasicLinearProcessNumbered"/>
    <dgm:cxn modelId="{D04C070D-A539-4540-806B-2AA87C69B612}" type="presParOf" srcId="{434862D8-0D71-40D3-941E-FAAAF8078FF1}" destId="{ACFAFC86-E7AA-4B44-AD7D-075FAB70B4EA}" srcOrd="5" destOrd="0" presId="urn:microsoft.com/office/officeart/2016/7/layout/BasicLinearProcessNumbered"/>
    <dgm:cxn modelId="{98DB8AC3-1A82-4176-9F9D-18A72ACF42FA}" type="presParOf" srcId="{434862D8-0D71-40D3-941E-FAAAF8078FF1}" destId="{A3ACB7F5-83B4-43AE-A4B3-DF4B7B487791}" srcOrd="6" destOrd="0" presId="urn:microsoft.com/office/officeart/2016/7/layout/BasicLinearProcessNumbered"/>
    <dgm:cxn modelId="{66B1D17F-6E2A-4B99-AC81-9AD6F723145D}" type="presParOf" srcId="{A3ACB7F5-83B4-43AE-A4B3-DF4B7B487791}" destId="{F779DBAA-C7C3-4C18-A21B-42B0C847D35D}" srcOrd="0" destOrd="0" presId="urn:microsoft.com/office/officeart/2016/7/layout/BasicLinearProcessNumbered"/>
    <dgm:cxn modelId="{862DB574-A755-4A9C-A728-F96F81AB8C91}" type="presParOf" srcId="{A3ACB7F5-83B4-43AE-A4B3-DF4B7B487791}" destId="{80887EDB-A7D3-48A2-B014-FECA52D436C4}" srcOrd="1" destOrd="0" presId="urn:microsoft.com/office/officeart/2016/7/layout/BasicLinearProcessNumbered"/>
    <dgm:cxn modelId="{A6DB1492-F90C-4FEF-9488-33F140732566}" type="presParOf" srcId="{A3ACB7F5-83B4-43AE-A4B3-DF4B7B487791}" destId="{99964A9B-8860-4871-8D79-6DA67EA05212}" srcOrd="2" destOrd="0" presId="urn:microsoft.com/office/officeart/2016/7/layout/BasicLinearProcessNumbered"/>
    <dgm:cxn modelId="{80C7063F-C739-4FBF-A8F3-A11F86188FC0}" type="presParOf" srcId="{A3ACB7F5-83B4-43AE-A4B3-DF4B7B487791}" destId="{50AE49B6-C302-4D7F-9581-F9079280FF5D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7BBD24-D69D-441F-B6D4-ABEA0E638AD9}">
      <dsp:nvSpPr>
        <dsp:cNvPr id="0" name=""/>
        <dsp:cNvSpPr/>
      </dsp:nvSpPr>
      <dsp:spPr>
        <a:xfrm>
          <a:off x="2365" y="0"/>
          <a:ext cx="1876763" cy="254375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320" tIns="330200" rIns="146320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/>
            <a:t>Generare automaticamente modelli 3D a partire da immagini 2D</a:t>
          </a:r>
          <a:endParaRPr lang="en-US" sz="1200" kern="1200"/>
        </a:p>
      </dsp:txBody>
      <dsp:txXfrm>
        <a:off x="2365" y="966626"/>
        <a:ext cx="1876763" cy="1526252"/>
      </dsp:txXfrm>
    </dsp:sp>
    <dsp:sp modelId="{15AF774E-9AE6-4F8F-A69B-19A4F73BD9BC}">
      <dsp:nvSpPr>
        <dsp:cNvPr id="0" name=""/>
        <dsp:cNvSpPr/>
      </dsp:nvSpPr>
      <dsp:spPr>
        <a:xfrm>
          <a:off x="559184" y="254375"/>
          <a:ext cx="763126" cy="76312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496" tIns="12700" rIns="59496" bIns="1270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1</a:t>
          </a:r>
        </a:p>
      </dsp:txBody>
      <dsp:txXfrm>
        <a:off x="670941" y="366132"/>
        <a:ext cx="539612" cy="539612"/>
      </dsp:txXfrm>
    </dsp:sp>
    <dsp:sp modelId="{21AB5068-7CB4-4293-BC8B-8A12B62FEE7D}">
      <dsp:nvSpPr>
        <dsp:cNvPr id="0" name=""/>
        <dsp:cNvSpPr/>
      </dsp:nvSpPr>
      <dsp:spPr>
        <a:xfrm>
          <a:off x="2365" y="2543682"/>
          <a:ext cx="1876763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71CCBD-CBC6-481F-BEE2-6EE5AE0832F3}">
      <dsp:nvSpPr>
        <dsp:cNvPr id="0" name=""/>
        <dsp:cNvSpPr/>
      </dsp:nvSpPr>
      <dsp:spPr>
        <a:xfrm>
          <a:off x="2045541" y="0"/>
          <a:ext cx="1876763" cy="2543754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320" tIns="330200" rIns="146320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/>
            <a:t>Integrare tecniche di Deep Learning nella pipeline di Computer Graphics</a:t>
          </a:r>
          <a:endParaRPr lang="en-US" sz="1200" kern="1200"/>
        </a:p>
      </dsp:txBody>
      <dsp:txXfrm>
        <a:off x="2045541" y="966626"/>
        <a:ext cx="1876763" cy="1526252"/>
      </dsp:txXfrm>
    </dsp:sp>
    <dsp:sp modelId="{5621B987-64A2-4D90-AE76-5267FECAB125}">
      <dsp:nvSpPr>
        <dsp:cNvPr id="0" name=""/>
        <dsp:cNvSpPr/>
      </dsp:nvSpPr>
      <dsp:spPr>
        <a:xfrm>
          <a:off x="2623624" y="254375"/>
          <a:ext cx="763126" cy="76312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496" tIns="12700" rIns="59496" bIns="1270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2</a:t>
          </a:r>
        </a:p>
      </dsp:txBody>
      <dsp:txXfrm>
        <a:off x="2735381" y="366132"/>
        <a:ext cx="539612" cy="539612"/>
      </dsp:txXfrm>
    </dsp:sp>
    <dsp:sp modelId="{73EBCC14-6B82-49C1-90DF-E4869EDB4AF0}">
      <dsp:nvSpPr>
        <dsp:cNvPr id="0" name=""/>
        <dsp:cNvSpPr/>
      </dsp:nvSpPr>
      <dsp:spPr>
        <a:xfrm>
          <a:off x="2066805" y="2543682"/>
          <a:ext cx="1876763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36C633-AAF1-4C06-9D8C-278021425D13}">
      <dsp:nvSpPr>
        <dsp:cNvPr id="0" name=""/>
        <dsp:cNvSpPr/>
      </dsp:nvSpPr>
      <dsp:spPr>
        <a:xfrm>
          <a:off x="4131245" y="0"/>
          <a:ext cx="1876763" cy="2543754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320" tIns="330200" rIns="146320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/>
            <a:t>Realizzare una pipeline end-to-end per la prototipazione di Digital Twin</a:t>
          </a:r>
          <a:endParaRPr lang="en-US" sz="1200" kern="1200"/>
        </a:p>
      </dsp:txBody>
      <dsp:txXfrm>
        <a:off x="4131245" y="966626"/>
        <a:ext cx="1876763" cy="1526252"/>
      </dsp:txXfrm>
    </dsp:sp>
    <dsp:sp modelId="{D7040E2C-B06B-498F-BAD9-A68611F0D6CC}">
      <dsp:nvSpPr>
        <dsp:cNvPr id="0" name=""/>
        <dsp:cNvSpPr/>
      </dsp:nvSpPr>
      <dsp:spPr>
        <a:xfrm>
          <a:off x="4688064" y="254375"/>
          <a:ext cx="763126" cy="763126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496" tIns="12700" rIns="59496" bIns="1270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3</a:t>
          </a:r>
        </a:p>
      </dsp:txBody>
      <dsp:txXfrm>
        <a:off x="4799821" y="366132"/>
        <a:ext cx="539612" cy="539612"/>
      </dsp:txXfrm>
    </dsp:sp>
    <dsp:sp modelId="{FE891E77-32A5-4B8C-8C80-FD2DEBFC35B0}">
      <dsp:nvSpPr>
        <dsp:cNvPr id="0" name=""/>
        <dsp:cNvSpPr/>
      </dsp:nvSpPr>
      <dsp:spPr>
        <a:xfrm>
          <a:off x="4131245" y="2543682"/>
          <a:ext cx="1876763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79DBAA-C7C3-4C18-A21B-42B0C847D35D}">
      <dsp:nvSpPr>
        <dsp:cNvPr id="0" name=""/>
        <dsp:cNvSpPr/>
      </dsp:nvSpPr>
      <dsp:spPr>
        <a:xfrm>
          <a:off x="6195685" y="0"/>
          <a:ext cx="1876763" cy="2543754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320" tIns="330200" rIns="146320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/>
            <a:t>Consentire la visualizzazione e l’interazione dei modelli in ambiente XR</a:t>
          </a:r>
          <a:endParaRPr lang="en-US" sz="1200" kern="1200"/>
        </a:p>
      </dsp:txBody>
      <dsp:txXfrm>
        <a:off x="6195685" y="966626"/>
        <a:ext cx="1876763" cy="1526252"/>
      </dsp:txXfrm>
    </dsp:sp>
    <dsp:sp modelId="{80887EDB-A7D3-48A2-B014-FECA52D436C4}">
      <dsp:nvSpPr>
        <dsp:cNvPr id="0" name=""/>
        <dsp:cNvSpPr/>
      </dsp:nvSpPr>
      <dsp:spPr>
        <a:xfrm>
          <a:off x="6752504" y="254375"/>
          <a:ext cx="763126" cy="76312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496" tIns="12700" rIns="59496" bIns="1270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4</a:t>
          </a:r>
        </a:p>
      </dsp:txBody>
      <dsp:txXfrm>
        <a:off x="6864261" y="366132"/>
        <a:ext cx="539612" cy="539612"/>
      </dsp:txXfrm>
    </dsp:sp>
    <dsp:sp modelId="{99964A9B-8860-4871-8D79-6DA67EA05212}">
      <dsp:nvSpPr>
        <dsp:cNvPr id="0" name=""/>
        <dsp:cNvSpPr/>
      </dsp:nvSpPr>
      <dsp:spPr>
        <a:xfrm>
          <a:off x="6195685" y="2543682"/>
          <a:ext cx="1876763" cy="7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31CBBC-7C2E-D9FF-05BB-0B6969233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5AE306F-C16C-86E5-4975-E3D9366348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66CBB7-DCFD-0738-D2A1-537529919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B45B5-6B42-8830-C0B6-7AE6A39BF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D338D3-F732-47F4-F3E7-BA25489E0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0700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49F23D-DF88-C07C-0D93-72F7BBD99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04B0CF-C9F4-76F5-11F1-643FF8586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6B184D5-8A32-FBAD-6FD6-DC718857E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B7F9ACE-C9B7-F67D-426B-4DF63ED8F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7DCA1A-A3FB-65BF-F5D1-4A2CBA0C3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45134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1BA702-E67D-9FC9-A3E6-43B5B22A5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7C5FCAD-840D-1E67-A344-1581305A5D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D2BAE2C-D18A-A229-209B-D4490E9EF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4136D8D-67FC-19D9-2CFA-9E940AABB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DD9BAF9-0C49-B156-C760-1773007E8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51957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4D7377-D39D-E846-1284-19D998CED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9B90FBF-6484-2992-2DFC-879B787887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94AC0E6-CDAB-E835-A7D1-F2FE5DBC71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20CA6AE-08ED-A634-65A1-00C421F43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B07DC6F-ECCB-4036-8C00-5A4C521B3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01E3D14-D411-8022-B07C-4A6E08275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3497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68370A-D940-0928-D5FD-2A08719C3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5AE294-02C3-F91B-BA87-418EEDCAC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AECB1BF-CC27-3B7A-92DE-472023745F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D1BA629-9AC9-DDBF-D048-032522392A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7EF9CE-E849-85A3-57CE-29AEC1072F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3B94F39-2E6B-53CE-AAB0-1739FFE17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342E622-93F6-014A-3A7C-299ED5E1A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78AF8EA3-596F-C39B-C7CC-9ABB9401B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8012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B15694-E023-C093-F011-0FCB3305B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46F0998-738D-F568-B7BE-505B031B8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EE4F5F2-A940-609F-6EDC-99B695BEB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35EE6DD-3700-2365-2403-25DC10A6D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9394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A66808B-D7FF-422F-3638-A17B206DF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DBF32EA-1808-9EDB-7853-87B1585AA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1B235F-01F2-714D-1FD3-5914F7922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5853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974E6B-607A-1E6B-DF69-CC9BFA6E9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4E9013-359C-E466-F0E4-C63389241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D76898B-466D-F70E-ACD7-75D8FB1FA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E5ACE7D-D59B-9D34-5E0D-79FE22FEA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C329889-9A1B-7D0D-22F4-56333E440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063581E-102E-8953-5159-C1F1BBEE1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9611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D708B5-76AE-E498-03A5-55667EA5D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760C15A9-CA85-A1FE-BC6C-37914452E5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69386AB-A29B-F376-3505-544ABD9485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90FB089-A9FB-C56A-4281-64D70DF0E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657FF4F-75FC-A18A-6FF9-3785A04A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9A4B986-74FC-848C-A1E6-0844A72D6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2520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E70A1B-F8E3-87F9-690B-82E7FAC93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1864007-624C-67EE-8EB9-203ABD45D0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1DD08C9-8423-C1E1-E644-DF2B1FB02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BC813D-758E-35F2-1C1A-ECD89D398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5AF4FF-31F3-32A8-C1B9-0EC59D7F0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7539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7FA7BC1-1F2C-7914-4A23-7834D03DD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F579562-4525-C173-20B2-A50826B377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08C97D-8FFE-96B8-4602-4D5214D7F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CCE446-B96A-C0F6-70DE-C418AD59F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383189-60D4-4B9B-546C-8398260EE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1013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EF46CCB-6151-E920-E36C-3FF02ABC6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8598AFB-C9C6-BB71-3B25-C895B16A0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2DFB793-961D-B0AA-3D95-B949DFA89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D1DF21-BA39-4E56-B179-F2B1C815403D}" type="datetimeFigureOut">
              <a:rPr lang="it-IT" smtClean="0"/>
              <a:t>09/01/2026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FA9879F-BDF2-9D9A-3208-664C690948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74EE58-0994-F78A-1CB7-5B7DB20807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11DE5F-BDEA-4385-B416-4F779E88F9E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1752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5200" y="1383528"/>
            <a:ext cx="5925989" cy="3167510"/>
          </a:xfrm>
        </p:spPr>
        <p:txBody>
          <a:bodyPr anchor="b">
            <a:normAutofit/>
          </a:bodyPr>
          <a:lstStyle/>
          <a:p>
            <a:pPr algn="r"/>
            <a:r>
              <a:rPr lang="it-IT" sz="3800" b="1" dirty="0"/>
              <a:t>Prototipazione Rapida di Digital Twin tramite Mixed Reality e Deep Learning su Meta Quest</a:t>
            </a:r>
            <a:endParaRPr lang="it-IT" sz="3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5201" y="4582814"/>
            <a:ext cx="5925987" cy="1312657"/>
          </a:xfrm>
        </p:spPr>
        <p:txBody>
          <a:bodyPr anchor="t">
            <a:normAutofit/>
          </a:bodyPr>
          <a:lstStyle/>
          <a:p>
            <a:pPr algn="r"/>
            <a:endParaRPr lang="it-IT"/>
          </a:p>
          <a:p>
            <a:pPr algn="r"/>
            <a:r>
              <a:rPr lang="it-IT"/>
              <a:t>Marco Di Vita – 2026</a:t>
            </a:r>
          </a:p>
        </p:txBody>
      </p:sp>
      <p:pic>
        <p:nvPicPr>
          <p:cNvPr id="6" name="Immagine 5" descr="Immagine che contiene emblema, simbolo, logo, Carattere&#10;&#10;Il contenuto generato dall'IA potrebbe non essere corretto.">
            <a:extLst>
              <a:ext uri="{FF2B5EF4-FFF2-40B4-BE49-F238E27FC236}">
                <a16:creationId xmlns:a16="http://schemas.microsoft.com/office/drawing/2014/main" id="{4C7DE493-AE40-CB00-57BE-3E52CF513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B8E031F5-6520-8689-1FE0-8880C530D38F}"/>
              </a:ext>
            </a:extLst>
          </p:cNvPr>
          <p:cNvSpPr/>
          <p:nvPr/>
        </p:nvSpPr>
        <p:spPr>
          <a:xfrm rot="1916257">
            <a:off x="9975903" y="3593301"/>
            <a:ext cx="361507" cy="8569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ight Triangle 2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6353504-3939-2F3A-594F-AA054A87A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/>
              <a:t>Obiettivi del progetto</a:t>
            </a:r>
            <a:endParaRPr lang="it-IT" sz="7200"/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16398330-6AA8-3948-E4C7-F1F8734571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2415321"/>
              </p:ext>
            </p:extLst>
          </p:nvPr>
        </p:nvGraphicFramePr>
        <p:xfrm>
          <a:off x="1285240" y="2921000"/>
          <a:ext cx="8074815" cy="25437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48992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Triangle 26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1ADD5D-9F92-30C7-2402-93BE9EDBA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/>
              <a:t>Architettura generale</a:t>
            </a:r>
            <a:endParaRPr lang="it-IT" sz="720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83E7C1D-5E31-4255-10BF-C16B777291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5240" y="2969469"/>
            <a:ext cx="8074815" cy="28003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Architettura client–server con separazione tra </a:t>
            </a:r>
            <a:r>
              <a:rPr kumimoji="0" lang="it-IT" altLang="it-IT" sz="200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frontend</a:t>
            </a:r>
            <a:r>
              <a:rPr kumimoji="0" lang="it-IT" altLang="it-IT" sz="20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e </a:t>
            </a:r>
            <a:r>
              <a:rPr kumimoji="0" lang="it-IT" altLang="it-IT" sz="200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backend</a:t>
            </a:r>
            <a:endParaRPr kumimoji="0" lang="it-IT" altLang="it-IT" sz="200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Backend</a:t>
            </a:r>
            <a:r>
              <a:rPr kumimoji="0" lang="it-IT" altLang="it-IT" sz="20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00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Flask</a:t>
            </a:r>
            <a:r>
              <a:rPr kumimoji="0" lang="it-IT" altLang="it-IT" sz="20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per orchestrare i modelli di Deep Learning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SAM per la segmentazione automatica dell’oggetto dall’immagine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Stable</a:t>
            </a:r>
            <a:r>
              <a:rPr kumimoji="0" lang="it-IT" altLang="it-IT" sz="20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Fast 3D per la generazione del modello tridimensionale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Comunicazione tramite HTTP/REST e scambio di file in formato GLB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it-IT" altLang="it-IT" sz="2000" dirty="0" err="1">
                <a:latin typeface="Arial" panose="020B0604020202020204" pitchFamily="34" charset="0"/>
              </a:rPr>
              <a:t>Frontend</a:t>
            </a:r>
            <a:r>
              <a:rPr lang="it-IT" altLang="it-IT" sz="2000" dirty="0">
                <a:latin typeface="Arial" panose="020B0604020202020204" pitchFamily="34" charset="0"/>
              </a:rPr>
              <a:t> </a:t>
            </a:r>
            <a:r>
              <a:rPr lang="it-IT" altLang="it-IT" sz="2000" dirty="0" err="1">
                <a:latin typeface="Arial" panose="020B0604020202020204" pitchFamily="34" charset="0"/>
              </a:rPr>
              <a:t>Unity</a:t>
            </a:r>
            <a:r>
              <a:rPr lang="it-IT" altLang="it-IT" sz="2000" dirty="0">
                <a:latin typeface="Arial" panose="020B0604020202020204" pitchFamily="34" charset="0"/>
              </a:rPr>
              <a:t> per visualizzazione, interazione XR e gestione dell’utente</a:t>
            </a:r>
          </a:p>
        </p:txBody>
      </p:sp>
    </p:spTree>
    <p:extLst>
      <p:ext uri="{BB962C8B-B14F-4D97-AF65-F5344CB8AC3E}">
        <p14:creationId xmlns:p14="http://schemas.microsoft.com/office/powerpoint/2010/main" val="3899940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1215768-3174-BC96-B4E0-E9BCDC60A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5600"/>
              <a:t>Pipeline di funzionamento</a:t>
            </a:r>
            <a:endParaRPr lang="it-IT" sz="560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A723BDB3-652A-9C3B-10D1-3229245ABB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5240" y="2969469"/>
            <a:ext cx="8074815" cy="28003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Selezione di un’immagine 2D tramite interfaccia Unity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Invio dell’immagine al backend per la segmentazione automatica (SAM)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Estrazione dell’oggetto principale dall’immagine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Generazione del modello 3D tramite Stable Fast 3D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Esportazione del modello in formato GLB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Caricamento dinamico del modello in Unity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Interazione del modello in ambiente XR (grab, move, inspect)</a:t>
            </a:r>
          </a:p>
        </p:txBody>
      </p:sp>
    </p:spTree>
    <p:extLst>
      <p:ext uri="{BB962C8B-B14F-4D97-AF65-F5344CB8AC3E}">
        <p14:creationId xmlns:p14="http://schemas.microsoft.com/office/powerpoint/2010/main" val="2985595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9" name="Rectangle 198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Right Triangle 200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AFB53D7-3113-A997-7F65-BC843B58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356" y="1188637"/>
            <a:ext cx="9984615" cy="1597228"/>
          </a:xfrm>
        </p:spPr>
        <p:txBody>
          <a:bodyPr>
            <a:normAutofit/>
          </a:bodyPr>
          <a:lstStyle/>
          <a:p>
            <a:r>
              <a:rPr lang="en-US" sz="6000" dirty="0"/>
              <a:t>Uno </a:t>
            </a:r>
            <a:r>
              <a:rPr lang="en-US" sz="6000" dirty="0" err="1"/>
              <a:t>sguardo</a:t>
            </a:r>
            <a:r>
              <a:rPr lang="en-US" sz="6000" dirty="0"/>
              <a:t> al backend</a:t>
            </a:r>
            <a:endParaRPr lang="it-IT" sz="6000" dirty="0"/>
          </a:p>
        </p:txBody>
      </p:sp>
      <p:pic>
        <p:nvPicPr>
          <p:cNvPr id="4" name="Immagine 3" descr="Immagine che contiene Carattere, testo, schermata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39BC95B9-444A-7002-0D1B-6FFFF2C46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357" y="3555930"/>
            <a:ext cx="3533985" cy="1652991"/>
          </a:xfrm>
          <a:prstGeom prst="rect">
            <a:avLst/>
          </a:prstGeom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FB0BE9D5-9503-361F-1CBE-95626AEC38E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55260" y="2998278"/>
            <a:ext cx="4763383" cy="27281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Backend</a:t>
            </a:r>
            <a:r>
              <a:rPr kumimoji="0" lang="it-IT" altLang="it-IT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sviluppato in </a:t>
            </a:r>
            <a:r>
              <a:rPr kumimoji="0" lang="it-IT" altLang="it-IT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Python con </a:t>
            </a:r>
            <a:r>
              <a:rPr kumimoji="0" lang="it-IT" altLang="it-IT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Flask</a:t>
            </a:r>
            <a:endParaRPr kumimoji="0" lang="it-IT" altLang="it-IT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Gestione delle richieste di segmentazione e generazione 3D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Caricamento del modello </a:t>
            </a:r>
            <a:r>
              <a:rPr kumimoji="0" lang="it-IT" altLang="it-IT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SAM</a:t>
            </a:r>
            <a:r>
              <a:rPr kumimoji="0" lang="it-IT" altLang="it-IT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all’avvio del server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Invocazione di </a:t>
            </a:r>
            <a:r>
              <a:rPr kumimoji="0" lang="it-IT" altLang="it-IT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Stable</a:t>
            </a:r>
            <a:r>
              <a:rPr kumimoji="0" lang="it-IT" altLang="it-IT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Fast 3D</a:t>
            </a:r>
            <a:r>
              <a:rPr kumimoji="0" lang="it-IT" altLang="it-IT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tramite </a:t>
            </a:r>
            <a:r>
              <a:rPr kumimoji="0" lang="it-IT" altLang="it-IT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subprocess</a:t>
            </a:r>
            <a:endParaRPr kumimoji="0" lang="it-IT" altLang="it-IT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Gestione dei file temporanei e dei modelli generati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Esposizione di API REST per la comunicazione con </a:t>
            </a:r>
            <a:r>
              <a:rPr kumimoji="0" lang="it-IT" altLang="it-IT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Unity</a:t>
            </a:r>
            <a:endParaRPr kumimoji="0" lang="it-IT" altLang="it-IT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934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ight Triangle 34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E5F4B23-82ED-25D1-E0CF-CBD13E9C8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it-IT" sz="5000"/>
              <a:t>SAM – Segment Anything Model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867CC50-B4EE-98FD-5E9F-CC79938538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5240" y="2969469"/>
            <a:ext cx="8074815" cy="28003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Modello di segmentazione automatica basato su Vision Transformer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Utilizzato per isolare l’oggetto principale dall’immagine 2D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Non richiede addestramento o annotazioni specifiche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Elevata robustezza a variazioni di forma, colore e contesto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Produzione di maschere utilizzate come input per la generazione 3D</a:t>
            </a:r>
          </a:p>
        </p:txBody>
      </p:sp>
    </p:spTree>
    <p:extLst>
      <p:ext uri="{BB962C8B-B14F-4D97-AF65-F5344CB8AC3E}">
        <p14:creationId xmlns:p14="http://schemas.microsoft.com/office/powerpoint/2010/main" val="3419870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ight Triangle 2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30BB17F-84B0-6EB9-BD2A-D30B7129C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/>
              <a:t>Stable fast 3d</a:t>
            </a:r>
            <a:endParaRPr lang="it-IT" sz="720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E3ED03-7445-C0E8-AD0C-6D5DCA1F4E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5240" y="2969469"/>
            <a:ext cx="8074815" cy="28003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Modello di generazione 3D a partire da immagini 2D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Produce mesh tridimensionali coerenti a partire dall’oggetto segmentato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Ottimizzato per velocità di esecuzione e semplicità di integrazione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Output esportato direttamente in formato GLB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2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Integrabile in pipeline automatiche senza intervento manuale</a:t>
            </a:r>
          </a:p>
        </p:txBody>
      </p:sp>
    </p:spTree>
    <p:extLst>
      <p:ext uri="{BB962C8B-B14F-4D97-AF65-F5344CB8AC3E}">
        <p14:creationId xmlns:p14="http://schemas.microsoft.com/office/powerpoint/2010/main" val="864472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1FEB96F-DA26-7943-9FEA-1738C5EDF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/>
              <a:t>Uno sguardo al frontend</a:t>
            </a:r>
            <a:endParaRPr lang="it-IT" sz="48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9355E79-4647-AC46-3659-56EE46F84A5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1" y="2599509"/>
            <a:ext cx="4530898" cy="36394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Frontend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sviluppato in </a:t>
            </a:r>
            <a:r>
              <a:rPr kumimoji="0" lang="it-IT" altLang="it-IT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Unity</a:t>
            </a:r>
            <a:endParaRPr kumimoji="0" lang="it-IT" altLang="it-IT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Gestione dell’interfaccia utente per l’intera pipeline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Caricamento dinamico dei modelli </a:t>
            </a:r>
            <a:r>
              <a:rPr kumimoji="0" lang="it-IT" altLang="it-IT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GLB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generati rendendoli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Grabbable</a:t>
            </a:r>
            <a:endParaRPr kumimoji="0" lang="it-IT" altLang="it-IT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Integrazione con </a:t>
            </a:r>
            <a:r>
              <a:rPr kumimoji="0" lang="it-IT" altLang="it-IT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Meta XR SDK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per l’interazione</a:t>
            </a:r>
          </a:p>
        </p:txBody>
      </p:sp>
      <p:pic>
        <p:nvPicPr>
          <p:cNvPr id="4" name="Immagine 3" descr="Immagine che contiene testo, Carattere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B9FCAAD1-0BFA-65AB-B5DC-1BC5FC194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3011243"/>
            <a:ext cx="5150277" cy="266026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098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E69B082-F493-C955-CD08-27E62BF08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3700" dirty="0" err="1"/>
              <a:t>Risultati</a:t>
            </a:r>
            <a:r>
              <a:rPr lang="en-US" sz="3700" dirty="0"/>
              <a:t> </a:t>
            </a:r>
            <a:r>
              <a:rPr lang="en-US" sz="3700" dirty="0" err="1"/>
              <a:t>ottenuti</a:t>
            </a:r>
            <a:r>
              <a:rPr lang="en-US" sz="3700" dirty="0"/>
              <a:t> ed </a:t>
            </a:r>
            <a:r>
              <a:rPr lang="en-US" sz="3700" dirty="0" err="1"/>
              <a:t>esempi</a:t>
            </a:r>
            <a:endParaRPr lang="it-IT" sz="37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325AFEB-6D12-4370-56AB-E1479942B8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55715" y="2508105"/>
            <a:ext cx="5040285" cy="363249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Generazione automatica di modelli 3D a partire da immagini 2D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Pipeline end-to-end completamente funzionante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Interazione XR immediata (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grab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move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inspect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9" name="Immagine 8" descr="Immagine che contiene arredo, sedia&#10;&#10;Il contenuto generato dall'IA potrebbe non essere corretto.">
            <a:extLst>
              <a:ext uri="{FF2B5EF4-FFF2-40B4-BE49-F238E27FC236}">
                <a16:creationId xmlns:a16="http://schemas.microsoft.com/office/drawing/2014/main" id="{76F7F699-494A-D081-9B89-29015E67E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747" y="3405713"/>
            <a:ext cx="2984015" cy="2707994"/>
          </a:xfrm>
          <a:prstGeom prst="rect">
            <a:avLst/>
          </a:prstGeom>
        </p:spPr>
      </p:pic>
      <p:pic>
        <p:nvPicPr>
          <p:cNvPr id="7" name="Immagine 6" descr="Immagine che contiene testo, schermata&#10;&#10;Il contenuto generato dall'IA potrebbe non essere corretto.">
            <a:extLst>
              <a:ext uri="{FF2B5EF4-FFF2-40B4-BE49-F238E27FC236}">
                <a16:creationId xmlns:a16="http://schemas.microsoft.com/office/drawing/2014/main" id="{E7382E47-2DCE-5AED-E4D8-33A3506DE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3746" y="671219"/>
            <a:ext cx="2984015" cy="25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9506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376</Words>
  <Application>Microsoft Office PowerPoint</Application>
  <PresentationFormat>Widescreen</PresentationFormat>
  <Paragraphs>55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di Office</vt:lpstr>
      <vt:lpstr>Prototipazione Rapida di Digital Twin tramite Mixed Reality e Deep Learning su Meta Quest</vt:lpstr>
      <vt:lpstr>Obiettivi del progetto</vt:lpstr>
      <vt:lpstr>Architettura generale</vt:lpstr>
      <vt:lpstr>Pipeline di funzionamento</vt:lpstr>
      <vt:lpstr>Uno sguardo al backend</vt:lpstr>
      <vt:lpstr>SAM – Segment Anything Model</vt:lpstr>
      <vt:lpstr>Stable fast 3d</vt:lpstr>
      <vt:lpstr>Uno sguardo al frontend</vt:lpstr>
      <vt:lpstr>Risultati ottenuti ed esempi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 VITA MARCO</dc:creator>
  <cp:lastModifiedBy>DI VITA MARCO</cp:lastModifiedBy>
  <cp:revision>2</cp:revision>
  <dcterms:created xsi:type="dcterms:W3CDTF">2026-01-08T14:11:09Z</dcterms:created>
  <dcterms:modified xsi:type="dcterms:W3CDTF">2026-01-09T03:30:35Z</dcterms:modified>
</cp:coreProperties>
</file>